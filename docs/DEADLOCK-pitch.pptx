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859eca4b2d49dc" /><Relationship Type="http://schemas.openxmlformats.org/officeDocument/2006/relationships/extended-properties" Target="/docProps/app.xml" Id="R3042164d3c8d4a76" /><Relationship Type="http://schemas.openxmlformats.org/officeDocument/2006/relationships/officeDocument" Target="/ppt/presentation.xml" Id="R6ec9a93e6ba444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a16f364e244d6e"/>
  </p:sldMasterIdLst>
  <p:notesMasterIdLst>
    <p:notesMasterId xmlns:r="http://schemas.openxmlformats.org/officeDocument/2006/relationships" r:id="Rc8bacfda1617421f"/>
  </p:notesMasterIdLst>
  <p:sldIdLst>
    <p:sldId xmlns:r="http://schemas.openxmlformats.org/officeDocument/2006/relationships" id="256" r:id="R97cb02255d7147ef"/>
    <p:sldId xmlns:r="http://schemas.openxmlformats.org/officeDocument/2006/relationships" id="257" r:id="R60d20d033fd4414b"/>
    <p:sldId xmlns:r="http://schemas.openxmlformats.org/officeDocument/2006/relationships" id="258" r:id="R2b44c1f473a84162"/>
    <p:sldId xmlns:r="http://schemas.openxmlformats.org/officeDocument/2006/relationships" id="259" r:id="R1702de1e50014a4a"/>
    <p:sldId xmlns:r="http://schemas.openxmlformats.org/officeDocument/2006/relationships" id="260" r:id="Rb7532972726343ca"/>
    <p:sldId xmlns:r="http://schemas.openxmlformats.org/officeDocument/2006/relationships" id="261" r:id="R7cb4e2e0bd5d44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95b5f33abd4ec5" /><Relationship Type="http://schemas.openxmlformats.org/officeDocument/2006/relationships/slideMaster" Target="/ppt/slideMasters/slideMaster1.xml" Id="R26a16f364e244d6e" /><Relationship Type="http://schemas.openxmlformats.org/officeDocument/2006/relationships/notesMaster" Target="/ppt/notesMasters/notesMaster1.xml" Id="Rc8bacfda1617421f" /><Relationship Type="http://schemas.openxmlformats.org/officeDocument/2006/relationships/presProps" Target="/ppt/presProps.xml" Id="R8c439159aa6d43c3" /><Relationship Type="http://schemas.openxmlformats.org/officeDocument/2006/relationships/tableStyles" Target="/ppt/tableStyles.xml" Id="R078a405354f64390" /><Relationship Type="http://schemas.openxmlformats.org/officeDocument/2006/relationships/slide" Target="/ppt/slides/slide1.xml" Id="R97cb02255d7147ef" /><Relationship Type="http://schemas.openxmlformats.org/officeDocument/2006/relationships/slide" Target="/ppt/slides/slide2.xml" Id="R60d20d033fd4414b" /><Relationship Type="http://schemas.openxmlformats.org/officeDocument/2006/relationships/slide" Target="/ppt/slides/slide3.xml" Id="R2b44c1f473a84162" /><Relationship Type="http://schemas.openxmlformats.org/officeDocument/2006/relationships/slide" Target="/ppt/slides/slide4.xml" Id="R1702de1e50014a4a" /><Relationship Type="http://schemas.openxmlformats.org/officeDocument/2006/relationships/slide" Target="/ppt/slides/slide5.xml" Id="Rb7532972726343ca" /><Relationship Type="http://schemas.openxmlformats.org/officeDocument/2006/relationships/slide" Target="/ppt/slides/slide6.xml" Id="R7cb4e2e0bd5d44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07a99c251f45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0c7953a71542fa" /><Relationship Type="http://schemas.openxmlformats.org/officeDocument/2006/relationships/notesMaster" Target="/ppt/notesMasters/notesMaster1.xml" Id="R481c94b0e3df43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3e0a4ecd4d4d9c" /><Relationship Type="http://schemas.openxmlformats.org/officeDocument/2006/relationships/notesMaster" Target="/ppt/notesMasters/notesMaster1.xml" Id="Ra94445623b724c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8ced4344d949db" /><Relationship Type="http://schemas.openxmlformats.org/officeDocument/2006/relationships/notesMaster" Target="/ppt/notesMasters/notesMaster1.xml" Id="Re0eeceae109f4f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d91a19ca484fca" /><Relationship Type="http://schemas.openxmlformats.org/officeDocument/2006/relationships/notesMaster" Target="/ppt/notesMasters/notesMaster1.xml" Id="Rcf514de39a204d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fa646c390d4490" /><Relationship Type="http://schemas.openxmlformats.org/officeDocument/2006/relationships/notesMaster" Target="/ppt/notesMasters/notesMaster1.xml" Id="R3de00d1c4c794d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52a1d090354156" /><Relationship Type="http://schemas.openxmlformats.org/officeDocument/2006/relationships/notesMaster" Target="/ppt/notesMasters/notesMaster1.xml" Id="Rca28c68d19c349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Implementation: README.md and backend/deadlock/. This deck describes implemented boundaries, not universal framework compatibility.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https://developers.openai.com/codex/app-server ; https://code.claude.com/docs/en/headless ; docs/agent-validation.json. Shared desktop runtimes are observe-only on the validation host because no attachable daemon socket is exposed. Real Codex lifecycle verified; successful Claude turn awaits login. Pause retains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docs/PRD.md sections 4, 7 and backend/deadlock/runner.py. Exasol SQL reads complete snapshots and verifies persistence without meaningful progress. Open OS files are not inferred to be exclusive leases.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canonical checkpoint values in runner.py and evaluation.json. The selected worker changes when checkpoint placement changes. All outputs are independently validated; cycle disappearance alone is insufficient.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docs/evaluation.json, docs/evaluation-initial.json, docs/EVALUATION.md. Initial SQLite live trials resolved 5/5 but four missed the 30-second target; initial stale retry exceeded 60 seconds. These are small controlled local samples, not general performance claims. Latest report timestamp: 2026-09-13T14:58:58Z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https://github.com/Passive-Coder/deadlock . Exasol requires configured credentials and TLS. Claude requires provider login. Remote multi-user hosting, arbitrary framework lock recovery, and Windows process control are outside this release.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80f430a88341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11d61eada74a8a" /><Relationship Type="http://schemas.openxmlformats.org/officeDocument/2006/relationships/slideLayout" Target="/ppt/slideLayouts/slideLayout1.xml" Id="Rbb06cf301ed344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06cf301ed344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1a8b285044d24" /><Relationship Type="http://schemas.openxmlformats.org/officeDocument/2006/relationships/notesSlide" Target="/ppt/notesSlides/notesSlide1.xml" Id="R64a4222f53c64d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221f5244d46ba" /><Relationship Type="http://schemas.openxmlformats.org/officeDocument/2006/relationships/notesSlide" Target="/ppt/notesSlides/notesSlide2.xml" Id="R23ba5c16eb824a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23f0c12fa4d82" /><Relationship Type="http://schemas.openxmlformats.org/officeDocument/2006/relationships/notesSlide" Target="/ppt/notesSlides/notesSlide3.xml" Id="Rb75cc20bffd34e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c7173a4b7426c" /><Relationship Type="http://schemas.openxmlformats.org/officeDocument/2006/relationships/notesSlide" Target="/ppt/notesSlides/notesSlide4.xml" Id="Re26a4f8cdace4b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a2eabc3634d92" /><Relationship Type="http://schemas.openxmlformats.org/officeDocument/2006/relationships/notesSlide" Target="/ppt/notesSlides/notesSlide5.xml" Id="R4177f541b36846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89a01382c4c81" /><Relationship Type="http://schemas.openxmlformats.org/officeDocument/2006/relationships/notesSlide" Target="/ppt/notesSlides/notesSlide6.xml" Id="R9fbf994fba6546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4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EC3CC7-C14D-477E-9891-15E2D34B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2E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2EE87"/>
                </a:solidFill>
                <a:latin typeface="Helvetica Neue"/>
                <a:ea typeface="Helvetica Neue"/>
                <a:cs typeface="Helvetica Neue"/>
              </a:rPr>
              <a:t>01 / VISIBILITY + INTERVENTION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993D31-CB52-436B-9A1D-E98A3258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rPr>
              <a:t>Know what your agents use.</a:t>
            </a:r>
          </a:p>
          <a:p xmlns:a="http://schemas.openxmlformats.org/drawingml/2006/main">
            <a:pPr>
              <a:defRPr sz="39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rPr>
              <a:t>Recover with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2D692-E474-4B24-8EC1-B9ADC883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rPr>
              <a:t>A local operations dashboard for Codex and Claude, with a reproducible lab for verified resource recovery.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A29D2-FB92-4BF0-871D-E168167C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rPr>
              <a:t>DEADLOCK  /  LOCAL AGENT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08D4F-6C5E-493F-A93B-FECDAA89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2E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2EE8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94C5B-0251-4F37-A602-B2D9FE00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E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2EE87"/>
                </a:solidFill>
                <a:latin typeface="Helvetica Neue"/>
                <a:ea typeface="Helvetica Neue"/>
                <a:cs typeface="Helvetica Neue"/>
              </a:rPr>
              <a:t>OBSERVE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DCE3A-088A-415F-A47B-FE6F91DD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3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2F3ED"/>
                </a:solidFill>
                <a:latin typeface="Helvetica Neue"/>
                <a:ea typeface="Helvetica Neue"/>
                <a:cs typeface="Helvetica Neue"/>
              </a:rPr>
              <a:t>CPU, memory, workspaces</a:t>
            </a:r>
          </a:p>
          <a:p xmlns:a="http://schemas.openxmlformats.org/drawingml/2006/main">
            <a:pPr>
              <a:defRPr sz="2175" b="0">
                <a:solidFill>
                  <a:srgbClr val="F2F3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2F3ED"/>
                </a:solidFill>
                <a:latin typeface="Helvetica Neue"/>
                <a:ea typeface="Helvetica Neue"/>
                <a:cs typeface="Helvetica Neue"/>
              </a:rPr>
              <a:t>and visible process trees.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18EF8-5634-42FF-9C26-D330BC94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195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E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2EE87"/>
                </a:solidFill>
                <a:latin typeface="Helvetica Neue"/>
                <a:ea typeface="Helvetica Neue"/>
                <a:cs typeface="Helvetica Neue"/>
              </a:rPr>
              <a:t>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EDBD1-3FC8-4765-AAF2-0C92F116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43375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3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2F3ED"/>
                </a:solidFill>
                <a:latin typeface="Helvetica Neue"/>
                <a:ea typeface="Helvetica Neue"/>
                <a:cs typeface="Helvetica Neue"/>
              </a:rPr>
              <a:t>Launch, adopt, pause,</a:t>
            </a:r>
          </a:p>
          <a:p xmlns:a="http://schemas.openxmlformats.org/drawingml/2006/main">
            <a:pPr>
              <a:defRPr sz="2175" b="0">
                <a:solidFill>
                  <a:srgbClr val="F2F3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2F3ED"/>
                </a:solidFill>
                <a:latin typeface="Helvetica Neue"/>
                <a:ea typeface="Helvetica Neue"/>
                <a:cs typeface="Helvetica Neue"/>
              </a:rPr>
              <a:t>resume, and stop.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B62FF6-B1E1-4091-8628-C0D4C5F2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1950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E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2EE87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2C0BFA-2A0B-46B6-8F68-1D0FF6D9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43375"/>
            <a:ext cx="3286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2F3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2F3ED"/>
                </a:solidFill>
                <a:latin typeface="Helvetica Neue"/>
                <a:ea typeface="Helvetica Neue"/>
                <a:cs typeface="Helvetica Neue"/>
              </a:rPr>
              <a:t>Complete work. Validate</a:t>
            </a:r>
          </a:p>
          <a:p xmlns:a="http://schemas.openxmlformats.org/drawingml/2006/main">
            <a:pPr>
              <a:defRPr sz="2175" b="0">
                <a:solidFill>
                  <a:srgbClr val="F2F3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2F3ED"/>
                </a:solidFill>
                <a:latin typeface="Helvetica Neue"/>
                <a:ea typeface="Helvetica Neue"/>
                <a:cs typeface="Helvetica Neue"/>
              </a:rPr>
              <a:t>outputs. Clear waits.</a:t>
            </a:r>
          </a:p>
        </p:txBody>
      </p:sp>
    </p:spTree>
    <p:extLst>
      <p:ext uri="{BB962C8B-B14F-4D97-AF65-F5344CB8AC3E}">
        <p14:creationId xmlns:p14="http://schemas.microsoft.com/office/powerpoint/2010/main" val="8769798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4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8DA62-CD85-4545-9F5A-F9BD114A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2E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2EE87"/>
                </a:solidFill>
                <a:latin typeface="Helvetica Neue"/>
                <a:ea typeface="Helvetica Neue"/>
                <a:cs typeface="Helvetica Neue"/>
              </a:rPr>
              <a:t>02 / ACTUAL CODING AGENTS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1BA40-9D9A-4072-A3BE-A4CE708C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rPr>
              <a:t>Controls match the connection.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DAF7A-0AC9-4EFD-A1EF-7ED6C7D3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rPr>
              <a:t>A suspended process, a terminated process, and a continued conversation are different states.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22A7B-A608-49CC-AEF1-0C1581E0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rPr>
              <a:t>DEADLOCK  /  LOCAL AGENT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8225A-1ABB-407B-A0D6-C5C950D5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2E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2EE8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319087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71900"/>
                <a:gridCol w="377190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C2EE8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Connection</a:t>
                      </a:r>
                    </a:p>
                  </a:txBody>
                  <a:tcPr marL="91440" marR="91440" marT="45720" marB="45720">
                    <a:solidFill>
                      <a:srgbClr val="2632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C2EE8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Monitoring</a:t>
                      </a:r>
                    </a:p>
                  </a:txBody>
                  <a:tcPr marL="91440" marR="91440" marT="45720" marB="45720">
                    <a:solidFill>
                      <a:srgbClr val="2632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C2EE8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26321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Managed CLI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Metrics + streamed output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Pause / resume / stop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Adopted standalone CLI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Metrics + process details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Pause / resume / stop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Shared Codex daemon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Session state, when reachable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Continue / interrupt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15048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4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BC1E4-F797-4B44-846C-92E8A1C7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2E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2EE87"/>
                </a:solidFill>
                <a:latin typeface="Helvetica Neue"/>
                <a:ea typeface="Helvetica Neue"/>
                <a:cs typeface="Helvetica Neue"/>
              </a:rPr>
              <a:t>03 / REPRODUCIBLE WORKLOAD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341E4-6D3A-4D07-B089-A9CB9CE8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rPr>
              <a:t>Three workers. Three leases.</a:t>
            </a:r>
          </a:p>
          <a:p xmlns:a="http://schemas.openxmlformats.org/drawingml/2006/main">
            <a:pPr>
              <a:defRPr sz="39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rPr>
              <a:t>One circular wait.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BAA04-0327-43FC-B6E4-1CA470A1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rPr>
              <a:t>Scripted workers process real data and create CSV, HTML, and ZIP files. Resource leases are application-managed.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4ADB9-3715-4B39-8370-295160A5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rPr>
              <a:t>DEADLOCK  /  LOCAL AGENT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85904-330D-4AB4-83DA-213F62AF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2E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2EE8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319087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71900"/>
                <a:gridCol w="377190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C2EE8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Worker</a:t>
                      </a:r>
                    </a:p>
                  </a:txBody>
                  <a:tcPr marL="91440" marR="91440" marT="45720" marB="45720">
                    <a:solidFill>
                      <a:srgbClr val="2632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C2EE8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Holds</a:t>
                      </a:r>
                    </a:p>
                  </a:txBody>
                  <a:tcPr marL="91440" marR="91440" marT="45720" marB="45720">
                    <a:solidFill>
                      <a:srgbClr val="2632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C2EE8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Waits for</a:t>
                      </a:r>
                    </a:p>
                  </a:txBody>
                  <a:tcPr marL="91440" marR="91440" marT="45720" marB="45720">
                    <a:solidFill>
                      <a:srgbClr val="26321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· summary CSV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Renderer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 · HTML report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Renderer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Artifact writer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 · ZIP package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Artifact writer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9885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4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C2A6F-B3FA-478D-9581-618401E8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2E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2EE87"/>
                </a:solidFill>
                <a:latin typeface="Helvetica Neue"/>
                <a:ea typeface="Helvetica Neue"/>
                <a:cs typeface="Helvetica Neue"/>
              </a:rPr>
              <a:t>04 / BOUNDED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DC74C-9117-4E7D-9E98-AE2D34EC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rPr>
              <a:t>Release a lease only after</a:t>
            </a:r>
          </a:p>
          <a:p xmlns:a="http://schemas.openxmlformats.org/drawingml/2006/main">
            <a:pPr>
              <a:defRPr sz="39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rPr>
              <a:t>the checkpoint is verified.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9C4AF-F7CC-4BE0-BBAB-AF48D0BA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rPr>
              <a:t>The live mediator inspects a candidate and proposes it. The runner owns validation and mutation.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5E834-05D0-4B36-8A6A-92D8EE75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rPr>
              <a:t>DEADLOCK  /  LOCAL AGENT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BA383-D572-470E-8075-5BE0D571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2E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2EE8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BF67D-E8D3-42A9-906A-602770F2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C2E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C2EE87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B525B-2269-44BF-B38F-F6621F03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1A7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1A79E"/>
                </a:solidFill>
                <a:latin typeface="Helvetica Neue"/>
                <a:ea typeface="Helvetica Neue"/>
                <a:cs typeface="Helvetica Neue"/>
              </a:rPr>
              <a:t>WORK UNITS PRESERVED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A01B2-E847-4108-8EBE-AEA6266D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00425"/>
            <a:ext cx="266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6E704-8844-4E1E-A438-9DA83A81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57700"/>
            <a:ext cx="3286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A1A7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A1A79E"/>
                </a:solidFill>
                <a:latin typeface="Helvetica Neue"/>
                <a:ea typeface="Helvetica Neue"/>
                <a:cs typeface="Helvetica Neue"/>
              </a:rPr>
              <a:t>WORK UNITS DISCARDED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FDD40-FEA9-4084-B9F1-AEB19B07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71875"/>
            <a:ext cx="34099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rPr>
              <a:t>Validate → Park → Release</a:t>
            </a:r>
          </a:p>
          <a:p xmlns:a="http://schemas.openxmlformats.org/drawingml/2006/main">
            <a:pPr>
              <a:defRPr sz="225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rPr>
              <a:t>→ Atomic readmission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AE9FC-6923-4669-95BF-36BB386E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rPr>
              <a:t>8 tool calls · 2 proposals · 60 seconds</a:t>
            </a:r>
          </a:p>
          <a:p xmlns:a="http://schemas.openxmlformats.org/drawingml/2006/main">
            <a:pPr>
              <a:defRPr sz="1800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rPr>
              <a:t>Stale state and missing capabilities stop recovery.</a:t>
            </a:r>
          </a:p>
        </p:txBody>
      </p:sp>
    </p:spTree>
    <p:extLst>
      <p:ext uri="{BB962C8B-B14F-4D97-AF65-F5344CB8AC3E}">
        <p14:creationId xmlns:p14="http://schemas.microsoft.com/office/powerpoint/2010/main" val="6684102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4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CC8608-F6EB-4DD1-9517-343F3E2B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2E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2EE87"/>
                </a:solidFill>
                <a:latin typeface="Helvetica Neue"/>
                <a:ea typeface="Helvetica Neue"/>
                <a:cs typeface="Helvetica Neue"/>
              </a:rPr>
              <a:t>05 / MEASURED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6CBF3-AFCC-4F63-955E-74A41845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rPr>
              <a:t>Publish the outcome,</a:t>
            </a:r>
          </a:p>
          <a:p xmlns:a="http://schemas.openxmlformats.org/drawingml/2006/main">
            <a:pPr>
              <a:defRPr sz="39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rPr>
              <a:t>including missed targets.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2352C-D291-4D68-87A5-D164A6D2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rPr>
              <a:t>Recovery latency starts at incident detection and includes model decisions, execution, and output verification.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029BA-62B7-429A-8DE5-852ADD21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rPr>
              <a:t>DEADLOCK  /  LOCAL AGENT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CC871-718E-413C-A08A-B1EF66CA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2E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2EE8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309562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71900"/>
                <a:gridCol w="3771900"/>
              </a:tblGrid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C2EE8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Policy / engine</a:t>
                      </a:r>
                    </a:p>
                  </a:txBody>
                  <a:tcPr marL="91440" marR="91440" marT="45720" marB="45720">
                    <a:solidFill>
                      <a:srgbClr val="2632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C2EE8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Recovery time</a:t>
                      </a:r>
                    </a:p>
                  </a:txBody>
                  <a:tcPr marL="91440" marR="91440" marT="45720" marB="45720">
                    <a:solidFill>
                      <a:srgbClr val="26321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C2EE8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Discarded work</a:t>
                      </a:r>
                    </a:p>
                  </a:txBody>
                  <a:tcPr marL="91440" marR="91440" marT="45720" marB="45720">
                    <a:solidFill>
                      <a:srgbClr val="26321F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Restart all / exasol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13.185 s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63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Least-cost / exasol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11.742 s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</a:tr>
              <a:tr h="6191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Live / exasol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45.90 s median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F2F3E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111410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C6330-174A-4391-80E0-806D6D46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rPr>
              <a:t>5/5 live canonical runs validated. See the full report for latency spread and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7488120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4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6AD836-88AB-4DCB-BDDC-E3A20F4F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2E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C2EE87"/>
                </a:solidFill>
                <a:latin typeface="Helvetica Neue"/>
                <a:ea typeface="Helvetica Neue"/>
                <a:cs typeface="Helvetica Neue"/>
              </a:rPr>
              <a:t>06 / RUN IT LOCALLY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B55A7-B463-48AE-84A9-DBA7B77A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972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rPr>
              <a:t>One dashboard.</a:t>
            </a:r>
          </a:p>
          <a:p xmlns:a="http://schemas.openxmlformats.org/drawingml/2006/main">
            <a:pPr>
              <a:defRPr sz="39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2F3ED"/>
                </a:solidFill>
                <a:latin typeface="Helvetica Neue"/>
                <a:ea typeface="Helvetica Neue"/>
                <a:cs typeface="Helvetica Neue"/>
              </a:rPr>
              <a:t>An inspectable audit trail.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0998B-088C-47ED-9D6C-C4E75D2E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rPr>
              <a:t>Public source, locked dependencies, acceptance tests, SQL, run evidence, setup instructions, and explicit integration limits.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7D71F-D78B-4233-92F4-26C894B9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rPr>
              <a:t>DEADLOCK  /  LOCAL AGENT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E7CF0-46F9-4BD3-8605-9F48D326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C2E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C2EE8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390B2-14DE-44C7-9530-DDFAD0A6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C2EE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C2EE87"/>
                </a:solidFill>
                <a:latin typeface="Helvetica Neue"/>
                <a:ea typeface="Helvetica Neue"/>
                <a:cs typeface="Helvetica Neue"/>
              </a:rPr>
              <a:t>./scripts/dev.sh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D7308-6F21-4C70-8EC2-B96B6E60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2F3E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2F3ED"/>
                </a:solidFill>
                <a:latin typeface="Helvetica Neue"/>
                <a:ea typeface="Helvetica Neue"/>
                <a:cs typeface="Helvetica Neue"/>
              </a:rPr>
              <a:t>127.0.0.1:8765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4D89E-0C27-402C-811E-DD4AEBC5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A1A79E"/>
                </a:solidFill>
                <a:latin typeface="Helvetica Neue"/>
                <a:ea typeface="Helvetica Neue"/>
                <a:cs typeface="Helvetica Neue"/>
              </a:rPr>
              <a:t>github.com/Passive-Coder/deadlock</a:t>
            </a:r>
          </a:p>
        </p:txBody>
      </p:sp>
    </p:spTree>
    <p:extLst>
      <p:ext uri="{BB962C8B-B14F-4D97-AF65-F5344CB8AC3E}">
        <p14:creationId xmlns:p14="http://schemas.microsoft.com/office/powerpoint/2010/main" val="2542484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2026-09-13T15:09:29.7560000Z</dcterms:created>
  <dcterms:modified xsi:type="dcterms:W3CDTF">2026-09-13T15:09:29.7560000Z</dcterms:modified>
</coreProperties>
</file>